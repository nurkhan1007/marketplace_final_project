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4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Выручка на клиента, млн ₽</c:v>
          </c:tx>
          <c:spPr>
            <a:solidFill>
              <a:srgbClr val="3D8DFF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01-503E-44FE-B77B-B9C9B8D6C693}"/>
              </c:ext>
            </c:extLst>
          </c:dPt>
          <c:dPt>
            <c:idx val="1"/>
            <c:invertIfNegative val="0"/>
            <c:bubble3D val="0"/>
            <c:spPr>
              <a:solidFill>
                <a:srgbClr val="C2413B"/>
              </a:solidFill>
            </c:spPr>
            <c:extLst>
              <c:ext xmlns:c16="http://schemas.microsoft.com/office/drawing/2014/chart" uri="{C3380CC4-5D6E-409C-BE32-E72D297353CC}">
                <c16:uniqueId val="{00000003-503E-44FE-B77B-B9C9B8D6C693}"/>
              </c:ext>
            </c:extLst>
          </c:dPt>
          <c:dPt>
            <c:idx val="2"/>
            <c:invertIfNegative val="0"/>
            <c:bubble3D val="0"/>
            <c:spPr>
              <a:solidFill>
                <a:srgbClr val="C2413B"/>
              </a:solidFill>
            </c:spPr>
            <c:extLst>
              <c:ext xmlns:c16="http://schemas.microsoft.com/office/drawing/2014/chart" uri="{C3380CC4-5D6E-409C-BE32-E72D297353CC}">
                <c16:uniqueId val="{00000005-503E-44FE-B77B-B9C9B8D6C693}"/>
              </c:ext>
            </c:extLst>
          </c:dPt>
          <c:dPt>
            <c:idx val="3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07-503E-44FE-B77B-B9C9B8D6C693}"/>
              </c:ext>
            </c:extLst>
          </c:dPt>
          <c:dPt>
            <c:idx val="4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09-503E-44FE-B77B-B9C9B8D6C693}"/>
              </c:ext>
            </c:extLst>
          </c:dPt>
          <c:dPt>
            <c:idx val="5"/>
            <c:invertIfNegative val="0"/>
            <c:bubble3D val="0"/>
            <c:spPr>
              <a:solidFill>
                <a:srgbClr val="C2413B"/>
              </a:solidFill>
            </c:spPr>
            <c:extLst>
              <c:ext xmlns:c16="http://schemas.microsoft.com/office/drawing/2014/chart" uri="{C3380CC4-5D6E-409C-BE32-E72D297353CC}">
                <c16:uniqueId val="{0000000B-503E-44FE-B77B-B9C9B8D6C693}"/>
              </c:ext>
            </c:extLst>
          </c:dPt>
          <c:dPt>
            <c:idx val="6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0D-503E-44FE-B77B-B9C9B8D6C693}"/>
              </c:ext>
            </c:extLst>
          </c:dPt>
          <c:dPt>
            <c:idx val="7"/>
            <c:invertIfNegative val="0"/>
            <c:bubble3D val="0"/>
            <c:spPr>
              <a:solidFill>
                <a:srgbClr val="C2413B"/>
              </a:solidFill>
            </c:spPr>
            <c:extLst>
              <c:ext xmlns:c16="http://schemas.microsoft.com/office/drawing/2014/chart" uri="{C3380CC4-5D6E-409C-BE32-E72D297353CC}">
                <c16:uniqueId val="{0000000F-503E-44FE-B77B-B9C9B8D6C693}"/>
              </c:ext>
            </c:extLst>
          </c:dPt>
          <c:dPt>
            <c:idx val="8"/>
            <c:invertIfNegative val="0"/>
            <c:bubble3D val="0"/>
            <c:spPr>
              <a:solidFill>
                <a:srgbClr val="2F855A"/>
              </a:solidFill>
            </c:spPr>
            <c:extLst>
              <c:ext xmlns:c16="http://schemas.microsoft.com/office/drawing/2014/chart" uri="{C3380CC4-5D6E-409C-BE32-E72D297353CC}">
                <c16:uniqueId val="{00000011-503E-44FE-B77B-B9C9B8D6C6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0B1220"/>
                    </a:solidFill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AX</c:v>
              </c:pt>
              <c:pt idx="1">
                <c:v>AY</c:v>
              </c:pt>
              <c:pt idx="2">
                <c:v>AZ</c:v>
              </c:pt>
              <c:pt idx="3">
                <c:v>BX</c:v>
              </c:pt>
              <c:pt idx="4">
                <c:v>BY</c:v>
              </c:pt>
              <c:pt idx="5">
                <c:v>BZ</c:v>
              </c:pt>
              <c:pt idx="6">
                <c:v>CX</c:v>
              </c:pt>
              <c:pt idx="7">
                <c:v>CY</c:v>
              </c:pt>
              <c:pt idx="8">
                <c:v>CZ</c:v>
              </c:pt>
            </c:strLit>
          </c:cat>
          <c:val>
            <c:numLit>
              <c:formatCode>0.0</c:formatCode>
              <c:ptCount val="5"/>
              <c:pt idx="0">
                <c:v>0.82</c:v>
              </c:pt>
              <c:pt idx="1">
                <c:v>2.0299999999999998</c:v>
              </c:pt>
              <c:pt idx="2">
                <c:v>3.71</c:v>
              </c:pt>
              <c:pt idx="3">
                <c:v>3.82</c:v>
              </c:pt>
              <c:pt idx="4">
                <c:v>4.3499999999999996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2-503E-44FE-B77B-B9C9B8D6C6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7CED6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B1220"/>
                </a:solidFill>
              </a:defRPr>
            </a:pPr>
            <a:endParaRPr lang="ru-K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"/>
          <c:min val="-3"/>
        </c:scaling>
        <c:delete val="0"/>
        <c:axPos val="l"/>
        <c:majorGridlines>
          <c:spPr>
            <a:ln w="9525">
              <a:solidFill>
                <a:srgbClr val="E5E9ED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ru-RU"/>
                  <a:t>млн </a:t>
                </a:r>
                <a:r>
                  <a:rPr lang="ru-KZ"/>
                  <a:t>₽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26173"/>
                </a:solidFill>
              </a:defRPr>
            </a:pPr>
            <a:endParaRPr lang="ru-KZ"/>
          </a:p>
        </c:txPr>
        <c:crossAx val="48650112"/>
        <c:crosses val="autoZero"/>
        <c:crossBetween val="between"/>
        <c:majorUnit val="1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Коротко обозначить цель: не просто распределить товары по классам, а получить практические решения по наличию, запасам, акциям и рационализации ассортимента.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Подчеркнуть полный календарный период и отсутствие пропусков. Объяснить, что рекомендации основаны на транзакционном поведении и требуют проверки экономикой товара.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Показать, что кривая заметно положе классического Парето. Для 80% выручки требуется 53,99% товаров. Это означает отсутствие сверхузкого ядра ассортимента.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Объяснить CV как отношение стандартного отклонения к среднему месячному спросу. Классические пороги не разделили данные, поэтому использованы 25-й и 75-й перцентили.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Сначала обсудить AY как крупнейший денежный сегмент. Затем развести решения: наличие для AX, прогнозирование и небольшие партии для AZ, индивидуальный аудит для CZ.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носит наблюдательный характер. В каждом сегменте доля положительной реакции близка к случайным 50%, а медианный прирост единиц мал. Нельзя считать скидку причиной без A/B-теста.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Сформулировать управленческие действия: сначала сохраняем выручку ядра, затем снижаем риск вариативного спроса, после этого рационализируем хвост. Никаких автоматических удалений только по ABC–XYZ.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Завершить не списком аналитических классов, а последовательностью действий. Главный вывод: данные поддерживают адресную работу с ассортиментом, но для финального решения нужны себестоимость, остатки и экспериментальный дизайн.</a:t>
            </a:r>
          </a:p>
          <a:p>
            <a:endParaRPr/>
          </a:p>
          <a:p>
            <a:r>
              <a:t>[Sources]</a:t>
            </a:r>
          </a:p>
          <a:p>
            <a:r>
              <a:t>- Расчёты автора на данных raw.sales за 2023 год.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51D216C-7B1D-42B7-979F-7BEC7D04AA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C2436FD-7723-41F5-882B-BC2C85C4F4B1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ИТОГОВЫЙ ПРОЕКТ • 2026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A88A839-8C45-4D40-BF96-75B18C5C275F}"/>
              </a:ext>
            </a:extLst>
          </p:cNvPr>
          <p:cNvSpPr>
            <a:spLocks noGrp="1"/>
          </p:cNvSpPr>
          <p:nvPr/>
        </p:nvSpPr>
        <p:spPr>
          <a:xfrm>
            <a:off x="590550" y="1371600"/>
            <a:ext cx="6477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Клиентская база</a:t>
            </a:r>
          </a:p>
          <a:p>
            <a:pPr algn="l">
              <a:buNone/>
              <a:defRPr sz="4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и рост</a:t>
            </a:r>
          </a:p>
          <a:p>
            <a:pPr algn="l">
              <a:buNone/>
              <a:defRPr sz="4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LTV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66E2F9-C10E-4F1C-920C-D9AD00C70610}"/>
              </a:ext>
            </a:extLst>
          </p:cNvPr>
          <p:cNvSpPr>
            <a:spLocks noGrp="1"/>
          </p:cNvSpPr>
          <p:nvPr/>
        </p:nvSpPr>
        <p:spPr>
          <a:xfrm>
            <a:off x="590550" y="41719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клиентов маркетплейса за 2023 год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0E13791-CF59-4B60-BCC5-61A8EAB2CFB8}"/>
              </a:ext>
            </a:extLst>
          </p:cNvPr>
          <p:cNvSpPr>
            <a:spLocks noGrp="1"/>
          </p:cNvSpPr>
          <p:nvPr/>
        </p:nvSpPr>
        <p:spPr>
          <a:xfrm>
            <a:off x="7524750" y="14859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22CC5A2-F2BA-4A26-AA0E-BAD56E55A8BD}"/>
              </a:ext>
            </a:extLst>
          </p:cNvPr>
          <p:cNvSpPr>
            <a:spLocks noGrp="1"/>
          </p:cNvSpPr>
          <p:nvPr/>
        </p:nvSpPr>
        <p:spPr>
          <a:xfrm>
            <a:off x="7639050" y="16002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877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895E1E5-49E3-4AB4-82A3-5C0B296DF1E8}"/>
              </a:ext>
            </a:extLst>
          </p:cNvPr>
          <p:cNvSpPr>
            <a:spLocks noGrp="1"/>
          </p:cNvSpPr>
          <p:nvPr/>
        </p:nvSpPr>
        <p:spPr>
          <a:xfrm>
            <a:off x="7639050" y="20574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69,54%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E482809-2EC7-4B01-8662-4FFF5BA9C317}"/>
              </a:ext>
            </a:extLst>
          </p:cNvPr>
          <p:cNvSpPr>
            <a:spLocks noGrp="1"/>
          </p:cNvSpPr>
          <p:nvPr/>
        </p:nvSpPr>
        <p:spPr>
          <a:xfrm>
            <a:off x="8782050" y="14859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153B66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97D197-75D2-490A-B24B-AA12B034BCBE}"/>
              </a:ext>
            </a:extLst>
          </p:cNvPr>
          <p:cNvSpPr>
            <a:spLocks noGrp="1"/>
          </p:cNvSpPr>
          <p:nvPr/>
        </p:nvSpPr>
        <p:spPr>
          <a:xfrm>
            <a:off x="8896350" y="16002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6667"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покупка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B904E9C-4D9A-4B47-8538-C2D8C2FCB8F9}"/>
              </a:ext>
            </a:extLst>
          </p:cNvPr>
          <p:cNvSpPr>
            <a:spLocks noGrp="1"/>
          </p:cNvSpPr>
          <p:nvPr/>
        </p:nvSpPr>
        <p:spPr>
          <a:xfrm>
            <a:off x="8896350" y="20574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30,46%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83E3C21-58A4-46DB-BFC7-659E8283F9AA}"/>
              </a:ext>
            </a:extLst>
          </p:cNvPr>
          <p:cNvSpPr>
            <a:spLocks noGrp="1"/>
          </p:cNvSpPr>
          <p:nvPr/>
        </p:nvSpPr>
        <p:spPr>
          <a:xfrm>
            <a:off x="10039350" y="14859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75C7C1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6CF0179-2812-471B-98B5-E712799F63CB}"/>
              </a:ext>
            </a:extLst>
          </p:cNvPr>
          <p:cNvSpPr>
            <a:spLocks noGrp="1"/>
          </p:cNvSpPr>
          <p:nvPr/>
        </p:nvSpPr>
        <p:spPr>
          <a:xfrm>
            <a:off x="10153650" y="16002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2–3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BB486C8-1CD2-46CE-B278-ABB8A8DC7FBA}"/>
              </a:ext>
            </a:extLst>
          </p:cNvPr>
          <p:cNvSpPr>
            <a:spLocks noGrp="1"/>
          </p:cNvSpPr>
          <p:nvPr/>
        </p:nvSpPr>
        <p:spPr>
          <a:xfrm>
            <a:off x="10153650" y="20574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52,27%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A984A58-4191-4155-996B-14FB2CAD182C}"/>
              </a:ext>
            </a:extLst>
          </p:cNvPr>
          <p:cNvSpPr>
            <a:spLocks noGrp="1"/>
          </p:cNvSpPr>
          <p:nvPr/>
        </p:nvSpPr>
        <p:spPr>
          <a:xfrm>
            <a:off x="7524750" y="268605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E8F2BD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3466A7-8E76-4C18-AF26-F6C1318E3426}"/>
              </a:ext>
            </a:extLst>
          </p:cNvPr>
          <p:cNvSpPr>
            <a:spLocks noGrp="1"/>
          </p:cNvSpPr>
          <p:nvPr/>
        </p:nvSpPr>
        <p:spPr>
          <a:xfrm>
            <a:off x="7639050" y="28003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2–4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D28CBA0-D475-4A97-BEE0-F2FE1E0CDC32}"/>
              </a:ext>
            </a:extLst>
          </p:cNvPr>
          <p:cNvSpPr>
            <a:spLocks noGrp="1"/>
          </p:cNvSpPr>
          <p:nvPr/>
        </p:nvSpPr>
        <p:spPr>
          <a:xfrm>
            <a:off x="7639050" y="325755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63,09%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04C271A-379A-4A53-9EA3-D346E61C4DC0}"/>
              </a:ext>
            </a:extLst>
          </p:cNvPr>
          <p:cNvSpPr>
            <a:spLocks noGrp="1"/>
          </p:cNvSpPr>
          <p:nvPr/>
        </p:nvSpPr>
        <p:spPr>
          <a:xfrm>
            <a:off x="8782050" y="268605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CFE8A6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07E0173-8112-4C6C-B83F-3993CF5A482B}"/>
              </a:ext>
            </a:extLst>
          </p:cNvPr>
          <p:cNvSpPr>
            <a:spLocks noGrp="1"/>
          </p:cNvSpPr>
          <p:nvPr/>
        </p:nvSpPr>
        <p:spPr>
          <a:xfrm>
            <a:off x="8896350" y="28003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365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889CE58-97E5-436A-896A-4DA0DA728433}"/>
              </a:ext>
            </a:extLst>
          </p:cNvPr>
          <p:cNvSpPr>
            <a:spLocks noGrp="1"/>
          </p:cNvSpPr>
          <p:nvPr/>
        </p:nvSpPr>
        <p:spPr>
          <a:xfrm>
            <a:off x="8896350" y="325755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72,10%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2BCD03FE-84DC-4878-A254-F3D1EED14859}"/>
              </a:ext>
            </a:extLst>
          </p:cNvPr>
          <p:cNvSpPr>
            <a:spLocks noGrp="1"/>
          </p:cNvSpPr>
          <p:nvPr/>
        </p:nvSpPr>
        <p:spPr>
          <a:xfrm>
            <a:off x="10039350" y="268605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EAF2C4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2C3FC46-332F-44FD-8D08-FC038B7484A6}"/>
              </a:ext>
            </a:extLst>
          </p:cNvPr>
          <p:cNvSpPr>
            <a:spLocks noGrp="1"/>
          </p:cNvSpPr>
          <p:nvPr/>
        </p:nvSpPr>
        <p:spPr>
          <a:xfrm>
            <a:off x="10153650" y="28003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365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Top-20%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178DBFA-6CCA-451D-A76B-0852A0743CE2}"/>
              </a:ext>
            </a:extLst>
          </p:cNvPr>
          <p:cNvSpPr>
            <a:spLocks noGrp="1"/>
          </p:cNvSpPr>
          <p:nvPr/>
        </p:nvSpPr>
        <p:spPr>
          <a:xfrm>
            <a:off x="10153650" y="325755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≈53%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8FEBEFC-A3CE-4F9C-80E4-33FB264D5CAA}"/>
              </a:ext>
            </a:extLst>
          </p:cNvPr>
          <p:cNvSpPr>
            <a:spLocks noGrp="1"/>
          </p:cNvSpPr>
          <p:nvPr/>
        </p:nvSpPr>
        <p:spPr>
          <a:xfrm>
            <a:off x="7524750" y="38862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F3F5D5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A99181F-7E9B-4F58-BCA2-D9AAFFA57A09}"/>
              </a:ext>
            </a:extLst>
          </p:cNvPr>
          <p:cNvSpPr>
            <a:spLocks noGrp="1"/>
          </p:cNvSpPr>
          <p:nvPr/>
        </p:nvSpPr>
        <p:spPr>
          <a:xfrm>
            <a:off x="7639050" y="40005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DB28585-DDFB-4F5A-AF33-C6D1E5116B7F}"/>
              </a:ext>
            </a:extLst>
          </p:cNvPr>
          <p:cNvSpPr>
            <a:spLocks noGrp="1"/>
          </p:cNvSpPr>
          <p:nvPr/>
        </p:nvSpPr>
        <p:spPr>
          <a:xfrm>
            <a:off x="7639050" y="44577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≈41%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304A68F-E4B6-4307-8CB4-A4B5DEDE3A35}"/>
              </a:ext>
            </a:extLst>
          </p:cNvPr>
          <p:cNvSpPr>
            <a:spLocks noGrp="1"/>
          </p:cNvSpPr>
          <p:nvPr/>
        </p:nvSpPr>
        <p:spPr>
          <a:xfrm>
            <a:off x="8782050" y="38862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EEF1C9"/>
          </a:solidFill>
          <a:ln w="0">
            <a:noFill/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221B6FF-1C5C-4D84-8123-F87B5CA08582}"/>
              </a:ext>
            </a:extLst>
          </p:cNvPr>
          <p:cNvSpPr>
            <a:spLocks noGrp="1"/>
          </p:cNvSpPr>
          <p:nvPr/>
        </p:nvSpPr>
        <p:spPr>
          <a:xfrm>
            <a:off x="8896350" y="40005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RFM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62B0401-BB4F-45AB-A967-13ADCAFB604A}"/>
              </a:ext>
            </a:extLst>
          </p:cNvPr>
          <p:cNvSpPr>
            <a:spLocks noGrp="1"/>
          </p:cNvSpPr>
          <p:nvPr/>
        </p:nvSpPr>
        <p:spPr>
          <a:xfrm>
            <a:off x="8896350" y="44577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10 сегм.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F3B0BFB-B3D5-4671-98A2-435BEE4D8045}"/>
              </a:ext>
            </a:extLst>
          </p:cNvPr>
          <p:cNvSpPr>
            <a:spLocks noGrp="1"/>
          </p:cNvSpPr>
          <p:nvPr/>
        </p:nvSpPr>
        <p:spPr>
          <a:xfrm>
            <a:off x="10039350" y="3886200"/>
            <a:ext cx="1123950" cy="1066800"/>
          </a:xfrm>
          <a:prstGeom prst="roundRect">
            <a:avLst>
              <a:gd name="adj" fmla="val 8929"/>
            </a:avLst>
          </a:prstGeom>
          <a:solidFill>
            <a:srgbClr val="F4F2CE"/>
          </a:solidFill>
          <a:ln w="0">
            <a:noFill/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C3EF73B-819A-4BE3-B2BC-FE1AE7FC6427}"/>
              </a:ext>
            </a:extLst>
          </p:cNvPr>
          <p:cNvSpPr>
            <a:spLocks noGrp="1"/>
          </p:cNvSpPr>
          <p:nvPr/>
        </p:nvSpPr>
        <p:spPr>
          <a:xfrm>
            <a:off x="10153650" y="40005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LTV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692A59C-08BE-4699-9320-EE475753A0BD}"/>
              </a:ext>
            </a:extLst>
          </p:cNvPr>
          <p:cNvSpPr>
            <a:spLocks noGrp="1"/>
          </p:cNvSpPr>
          <p:nvPr/>
        </p:nvSpPr>
        <p:spPr>
          <a:xfrm>
            <a:off x="10153650" y="44577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частота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3851632-461A-41FB-95E7-A4B583419494}"/>
              </a:ext>
            </a:extLst>
          </p:cNvPr>
          <p:cNvSpPr>
            <a:spLocks noGrp="1"/>
          </p:cNvSpPr>
          <p:nvPr/>
        </p:nvSpPr>
        <p:spPr>
          <a:xfrm>
            <a:off x="7524750" y="5314950"/>
            <a:ext cx="3638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КЛИЕНТСКАЯ ЦЕННОСТЬ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62D9D4D-1185-4955-9269-F2B362B0B3B4}"/>
              </a:ext>
            </a:extLst>
          </p:cNvPr>
          <p:cNvSpPr>
            <a:spLocks noGrp="1"/>
          </p:cNvSpPr>
          <p:nvPr/>
        </p:nvSpPr>
        <p:spPr>
          <a:xfrm>
            <a:off x="7524750" y="5695950"/>
            <a:ext cx="3638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частота × удержание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3954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4885DCC-F430-4780-B006-4584D88337A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КЛИЕНТОВ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8553287-1B8E-4F8A-8AA7-CFB1B2BBE8B2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8B2CB84-1586-4FAA-AA17-356A1F47BA33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Данные и логика исследования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525918-1A35-4584-AC97-9948D3D27429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36CC08-2F1D-4CE6-B356-71B2E3A0CC13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2,04 млн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D54F06-2510-434F-84BF-7CECFDB73F5A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транзакций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7A71B95-4A5A-4264-97BE-C38D4626B9A7}"/>
              </a:ext>
            </a:extLst>
          </p:cNvPr>
          <p:cNvSpPr>
            <a:spLocks noGrp="1"/>
          </p:cNvSpPr>
          <p:nvPr/>
        </p:nvSpPr>
        <p:spPr>
          <a:xfrm>
            <a:off x="3333750" y="1657350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869 966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8E17CD-2F20-4AB3-84F6-37516F61CEF3}"/>
              </a:ext>
            </a:extLst>
          </p:cNvPr>
          <p:cNvSpPr>
            <a:spLocks noGrp="1"/>
          </p:cNvSpPr>
          <p:nvPr/>
        </p:nvSpPr>
        <p:spPr>
          <a:xfrm>
            <a:off x="3333750" y="2305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клиентов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0EDB76-63EF-469B-B70F-FCAC63A5A22E}"/>
              </a:ext>
            </a:extLst>
          </p:cNvPr>
          <p:cNvSpPr>
            <a:spLocks noGrp="1"/>
          </p:cNvSpPr>
          <p:nvPr/>
        </p:nvSpPr>
        <p:spPr>
          <a:xfrm>
            <a:off x="6115050" y="1657350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73"/>
          </a:bodyPr>
          <a:lstStyle/>
          <a:p>
            <a:pPr algn="l"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 месяцев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C446DF-0263-4093-994D-6C1C405D4CE0}"/>
              </a:ext>
            </a:extLst>
          </p:cNvPr>
          <p:cNvSpPr>
            <a:spLocks noGrp="1"/>
          </p:cNvSpPr>
          <p:nvPr/>
        </p:nvSpPr>
        <p:spPr>
          <a:xfrm>
            <a:off x="6115050" y="2305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01.01–31.12.2023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2D0EF16-CD5A-4C32-B719-8BD31DC5ABEF}"/>
              </a:ext>
            </a:extLst>
          </p:cNvPr>
          <p:cNvSpPr>
            <a:spLocks noGrp="1"/>
          </p:cNvSpPr>
          <p:nvPr/>
        </p:nvSpPr>
        <p:spPr>
          <a:xfrm>
            <a:off x="8896350" y="1657350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этапа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18B39D-5B09-4C83-9EB6-1FE649228CB5}"/>
              </a:ext>
            </a:extLst>
          </p:cNvPr>
          <p:cNvSpPr>
            <a:spLocks noGrp="1"/>
          </p:cNvSpPr>
          <p:nvPr/>
        </p:nvSpPr>
        <p:spPr>
          <a:xfrm>
            <a:off x="8896350" y="2305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от профиля до решений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BE79555-7270-4ACC-9F8B-A6769BED9CD7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1072515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872FE0A-5B25-4A21-A97F-3FBD3C2A29DD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A32C160-AEAB-4EB1-9CF4-C1A03E76EB61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Frequency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4534721-6EF0-4C5E-A06F-DB5BBB05866D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частота и повторные покупки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C21F772-8A30-4C54-9A96-AA22048C67D2}"/>
              </a:ext>
            </a:extLst>
          </p:cNvPr>
          <p:cNvSpPr>
            <a:spLocks noGrp="1"/>
          </p:cNvSpPr>
          <p:nvPr/>
        </p:nvSpPr>
        <p:spPr>
          <a:xfrm>
            <a:off x="2876550" y="3790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buNone/>
              <a:defRPr sz="1800" b="1">
                <a:solidFill>
                  <a:srgbClr val="C7CE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CE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47E8525-065C-43E1-A5AE-766CC5B78BF8}"/>
              </a:ext>
            </a:extLst>
          </p:cNvPr>
          <p:cNvSpPr>
            <a:spLocks noGrp="1"/>
          </p:cNvSpPr>
          <p:nvPr/>
        </p:nvSpPr>
        <p:spPr>
          <a:xfrm>
            <a:off x="3257550" y="3333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C36B4D4-253D-4CB4-B063-F9C21AB78B99}"/>
              </a:ext>
            </a:extLst>
          </p:cNvPr>
          <p:cNvSpPr>
            <a:spLocks noGrp="1"/>
          </p:cNvSpPr>
          <p:nvPr/>
        </p:nvSpPr>
        <p:spPr>
          <a:xfrm>
            <a:off x="3257550" y="37147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Pareto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A5E8B05-15CB-4A9F-BAE7-A94CBAC77296}"/>
              </a:ext>
            </a:extLst>
          </p:cNvPr>
          <p:cNvSpPr>
            <a:spLocks noGrp="1"/>
          </p:cNvSpPr>
          <p:nvPr/>
        </p:nvSpPr>
        <p:spPr>
          <a:xfrm>
            <a:off x="3257550" y="41719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концентрация клиентской выручки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9A65711-140F-4B6D-A5CC-9CA350B611F5}"/>
              </a:ext>
            </a:extLst>
          </p:cNvPr>
          <p:cNvSpPr>
            <a:spLocks noGrp="1"/>
          </p:cNvSpPr>
          <p:nvPr/>
        </p:nvSpPr>
        <p:spPr>
          <a:xfrm>
            <a:off x="5581650" y="3790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buNone/>
              <a:defRPr sz="1800" b="1">
                <a:solidFill>
                  <a:srgbClr val="C7CE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CE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70C3C1D-1F2F-48E5-B0BF-87E4923E614F}"/>
              </a:ext>
            </a:extLst>
          </p:cNvPr>
          <p:cNvSpPr>
            <a:spLocks noGrp="1"/>
          </p:cNvSpPr>
          <p:nvPr/>
        </p:nvSpPr>
        <p:spPr>
          <a:xfrm>
            <a:off x="5962650" y="3333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38AD0C6-3A97-48CB-BAA9-AC549FE9D3D6}"/>
              </a:ext>
            </a:extLst>
          </p:cNvPr>
          <p:cNvSpPr>
            <a:spLocks noGrp="1"/>
          </p:cNvSpPr>
          <p:nvPr/>
        </p:nvSpPr>
        <p:spPr>
          <a:xfrm>
            <a:off x="5962650" y="37147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RFM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E67B3A5-A5A5-48D5-9F0E-809B54B7778B}"/>
              </a:ext>
            </a:extLst>
          </p:cNvPr>
          <p:cNvSpPr>
            <a:spLocks noGrp="1"/>
          </p:cNvSpPr>
          <p:nvPr/>
        </p:nvSpPr>
        <p:spPr>
          <a:xfrm>
            <a:off x="5962650" y="41719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давность × частота × выручка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0B8DF5F-AA11-40A7-B939-B0B07ED4D6C4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buNone/>
              <a:defRPr sz="1800" b="1">
                <a:solidFill>
                  <a:srgbClr val="C7CE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CE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1F4FE41-D04E-4AAC-822E-660B4AF7ABE8}"/>
              </a:ext>
            </a:extLst>
          </p:cNvPr>
          <p:cNvSpPr>
            <a:spLocks noGrp="1"/>
          </p:cNvSpPr>
          <p:nvPr/>
        </p:nvSpPr>
        <p:spPr>
          <a:xfrm>
            <a:off x="8667750" y="3333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0774287-80CC-4BBE-B32F-43CA0F7B47AD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LTV-драйверы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F716D62-4441-465F-B9F3-1D3FDDECBA75}"/>
              </a:ext>
            </a:extLst>
          </p:cNvPr>
          <p:cNvSpPr>
            <a:spLocks noGrp="1"/>
          </p:cNvSpPr>
          <p:nvPr/>
        </p:nvSpPr>
        <p:spPr>
          <a:xfrm>
            <a:off x="8667750" y="41719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частота, активность, удержание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DDD2C5A4-4AC2-4B00-97B8-97C60CFA89A4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10725150" cy="838200"/>
          </a:xfrm>
          <a:prstGeom prst="roundRect">
            <a:avLst>
              <a:gd name="adj" fmla="val 13636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67FC30E-E259-4012-AD54-255CA746018C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C241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2413B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100C52A-2D13-4716-B10C-EF782CC86065}"/>
              </a:ext>
            </a:extLst>
          </p:cNvPr>
          <p:cNvSpPr>
            <a:spLocks noGrp="1"/>
          </p:cNvSpPr>
          <p:nvPr/>
        </p:nvSpPr>
        <p:spPr>
          <a:xfrm>
            <a:off x="2190750" y="5362575"/>
            <a:ext cx="876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Нет маржи, CAC и сервисных затрат, горизонт — один год. Поэтому выручка на клиента используется как прокси LTV, а не как полный финансовый LTV.</a:t>
            </a:r>
          </a:p>
        </p:txBody>
      </p:sp>
    </p:spTree>
    <p:extLst>
      <p:ext uri="{BB962C8B-B14F-4D97-AF65-F5344CB8AC3E}">
        <p14:creationId xmlns:p14="http://schemas.microsoft.com/office/powerpoint/2010/main" val="1805866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609370D-3714-46F4-9030-3CB1D5C80FA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КЛИЕНТОВ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C12251-065D-411A-909E-129EE3C7987F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2F2157-8403-431A-A475-76DA08BA95FD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Частота покупок: ядро — 2–4 заказа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1989C9-22B4-4F08-9C93-2D8C5CB6FB17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590266"/>
            <a:ext cx="7334250" cy="363936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896B362-4D93-406C-89A8-7579A7C5A151}"/>
              </a:ext>
            </a:extLst>
          </p:cNvPr>
          <p:cNvSpPr>
            <a:spLocks noGrp="1"/>
          </p:cNvSpPr>
          <p:nvPr/>
        </p:nvSpPr>
        <p:spPr>
          <a:xfrm>
            <a:off x="8305800" y="1657350"/>
            <a:ext cx="276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69,54%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162C5C7-4359-4A89-AAA4-62B80F2CAB26}"/>
              </a:ext>
            </a:extLst>
          </p:cNvPr>
          <p:cNvSpPr>
            <a:spLocks noGrp="1"/>
          </p:cNvSpPr>
          <p:nvPr/>
        </p:nvSpPr>
        <p:spPr>
          <a:xfrm>
            <a:off x="8305800" y="23431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клиентов совершили повторную покупку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7FE8985-C6E6-4064-8ED3-0BACDB855839}"/>
              </a:ext>
            </a:extLst>
          </p:cNvPr>
          <p:cNvSpPr>
            <a:spLocks noGrp="1"/>
          </p:cNvSpPr>
          <p:nvPr/>
        </p:nvSpPr>
        <p:spPr>
          <a:xfrm>
            <a:off x="8305800" y="3009900"/>
            <a:ext cx="289560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11C4CCF-79CA-4FF1-9D37-702894E2CF4D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F1D99EC-D4B0-4B5D-A49F-EA6E6C1BDC72}"/>
              </a:ext>
            </a:extLst>
          </p:cNvPr>
          <p:cNvSpPr>
            <a:spLocks noGrp="1"/>
          </p:cNvSpPr>
          <p:nvPr/>
        </p:nvSpPr>
        <p:spPr>
          <a:xfrm>
            <a:off x="8420100" y="33432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5417FA7-4245-4189-8C08-D41AA706F83F}"/>
              </a:ext>
            </a:extLst>
          </p:cNvPr>
          <p:cNvSpPr>
            <a:spLocks noGrp="1"/>
          </p:cNvSpPr>
          <p:nvPr/>
        </p:nvSpPr>
        <p:spPr>
          <a:xfrm>
            <a:off x="8858250" y="32956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264 955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658B1E4-EC48-4C66-9E9E-2AB7987E6C22}"/>
              </a:ext>
            </a:extLst>
          </p:cNvPr>
          <p:cNvSpPr>
            <a:spLocks noGrp="1"/>
          </p:cNvSpPr>
          <p:nvPr/>
        </p:nvSpPr>
        <p:spPr>
          <a:xfrm>
            <a:off x="10039350" y="33432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клиентов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A53C798-363B-4405-93AC-1BB96223387D}"/>
              </a:ext>
            </a:extLst>
          </p:cNvPr>
          <p:cNvSpPr>
            <a:spLocks noGrp="1"/>
          </p:cNvSpPr>
          <p:nvPr/>
        </p:nvSpPr>
        <p:spPr>
          <a:xfrm>
            <a:off x="10715625" y="32956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592"/>
          </a:bodyPr>
          <a:lstStyle/>
          <a:p>
            <a:pPr algn="r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30,46%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3605AA0-C0E1-4715-B876-976B0DEFD392}"/>
              </a:ext>
            </a:extLst>
          </p:cNvPr>
          <p:cNvSpPr>
            <a:spLocks noGrp="1"/>
          </p:cNvSpPr>
          <p:nvPr/>
        </p:nvSpPr>
        <p:spPr>
          <a:xfrm>
            <a:off x="8305800" y="40005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D9F1FC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4B04F18-339E-4F68-A518-FAF086EEF6FA}"/>
              </a:ext>
            </a:extLst>
          </p:cNvPr>
          <p:cNvSpPr>
            <a:spLocks noGrp="1"/>
          </p:cNvSpPr>
          <p:nvPr/>
        </p:nvSpPr>
        <p:spPr>
          <a:xfrm>
            <a:off x="8420100" y="40671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8239"/>
          </a:bodyPr>
          <a:lstStyle/>
          <a:p>
            <a:pPr algn="ctr">
              <a:buNone/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2–3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AC09FAF-BBB2-4E0F-A559-123EC0CB96C5}"/>
              </a:ext>
            </a:extLst>
          </p:cNvPr>
          <p:cNvSpPr>
            <a:spLocks noGrp="1"/>
          </p:cNvSpPr>
          <p:nvPr/>
        </p:nvSpPr>
        <p:spPr>
          <a:xfrm>
            <a:off x="8858250" y="40195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52,27%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309D866-A5CD-43E4-A1B2-97A0E053D641}"/>
              </a:ext>
            </a:extLst>
          </p:cNvPr>
          <p:cNvSpPr>
            <a:spLocks noGrp="1"/>
          </p:cNvSpPr>
          <p:nvPr/>
        </p:nvSpPr>
        <p:spPr>
          <a:xfrm>
            <a:off x="10039350" y="40671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клиентов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8554789-39C1-4891-851F-A30DD34EA0E3}"/>
              </a:ext>
            </a:extLst>
          </p:cNvPr>
          <p:cNvSpPr>
            <a:spLocks noGrp="1"/>
          </p:cNvSpPr>
          <p:nvPr/>
        </p:nvSpPr>
        <p:spPr>
          <a:xfrm>
            <a:off x="10715625" y="4019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8333"/>
          </a:bodyPr>
          <a:lstStyle/>
          <a:p>
            <a:pPr algn="r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53,60% выр.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CC82D85-8DC8-4B86-BC44-9AE8D901D4CC}"/>
              </a:ext>
            </a:extLst>
          </p:cNvPr>
          <p:cNvSpPr>
            <a:spLocks noGrp="1"/>
          </p:cNvSpPr>
          <p:nvPr/>
        </p:nvSpPr>
        <p:spPr>
          <a:xfrm>
            <a:off x="8305800" y="47244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AED2C80-E210-4057-AE89-BF40863E8AB4}"/>
              </a:ext>
            </a:extLst>
          </p:cNvPr>
          <p:cNvSpPr>
            <a:spLocks noGrp="1"/>
          </p:cNvSpPr>
          <p:nvPr/>
        </p:nvSpPr>
        <p:spPr>
          <a:xfrm>
            <a:off x="8420100" y="47910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8239"/>
          </a:bodyPr>
          <a:lstStyle/>
          <a:p>
            <a:pPr algn="ctr">
              <a:buNone/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2–4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6FA0AB1-5104-4878-93FA-7EB974BE5332}"/>
              </a:ext>
            </a:extLst>
          </p:cNvPr>
          <p:cNvSpPr>
            <a:spLocks noGrp="1"/>
          </p:cNvSpPr>
          <p:nvPr/>
        </p:nvSpPr>
        <p:spPr>
          <a:xfrm>
            <a:off x="8858250" y="47434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63,09%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3A334EA-9BBF-435C-93E5-72A64601AF40}"/>
              </a:ext>
            </a:extLst>
          </p:cNvPr>
          <p:cNvSpPr>
            <a:spLocks noGrp="1"/>
          </p:cNvSpPr>
          <p:nvPr/>
        </p:nvSpPr>
        <p:spPr>
          <a:xfrm>
            <a:off x="10039350" y="47910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клиентов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353E4D7-D8EB-45D2-8EEB-DA37F828CF32}"/>
              </a:ext>
            </a:extLst>
          </p:cNvPr>
          <p:cNvSpPr>
            <a:spLocks noGrp="1"/>
          </p:cNvSpPr>
          <p:nvPr/>
        </p:nvSpPr>
        <p:spPr>
          <a:xfrm>
            <a:off x="10715625" y="47434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8333"/>
          </a:bodyPr>
          <a:lstStyle/>
          <a:p>
            <a:pPr algn="r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72,10% выр.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2D74148-A25C-415D-84F9-E1E1D2A63CEC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65780A1-F986-48C5-A9EB-2C00EC774410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CED0AD9-DC16-482D-90AB-C8F005CB281C}"/>
              </a:ext>
            </a:extLst>
          </p:cNvPr>
          <p:cNvSpPr>
            <a:spLocks noGrp="1"/>
          </p:cNvSpPr>
          <p:nvPr/>
        </p:nvSpPr>
        <p:spPr>
          <a:xfrm>
            <a:off x="1524000" y="5705475"/>
            <a:ext cx="9477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269"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Главный резерв — перевод клиентов с 1–2 покупок на 3–4: здесь сосредоточена основная масса базы и выручки.</a:t>
            </a:r>
          </a:p>
        </p:txBody>
      </p:sp>
    </p:spTree>
    <p:extLst>
      <p:ext uri="{BB962C8B-B14F-4D97-AF65-F5344CB8AC3E}">
        <p14:creationId xmlns:p14="http://schemas.microsoft.com/office/powerpoint/2010/main" val="1297010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21EDB0E-E418-45F1-AB33-950FDE271A87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КЛИЕНТОВ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7186C06-8448-49AA-B538-F5A67150854E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D345101-E9BD-47E1-A943-F90A12A76C2B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Концентрация выручки: правило 80/20 не выполняется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EF95E1-8026-4347-B845-4DFFAD08860A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3335" y="1524000"/>
            <a:ext cx="7607731" cy="377190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AEB346E-1C00-48DE-9DDE-3BB542F8CCF4}"/>
              </a:ext>
            </a:extLst>
          </p:cNvPr>
          <p:cNvSpPr>
            <a:spLocks noGrp="1"/>
          </p:cNvSpPr>
          <p:nvPr/>
        </p:nvSpPr>
        <p:spPr>
          <a:xfrm>
            <a:off x="8401050" y="1600200"/>
            <a:ext cx="2914650" cy="857250"/>
          </a:xfrm>
          <a:prstGeom prst="roundRect">
            <a:avLst>
              <a:gd name="adj" fmla="val 11111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FA8071-4BDD-4E8C-A3B7-12883502726B}"/>
              </a:ext>
            </a:extLst>
          </p:cNvPr>
          <p:cNvSpPr>
            <a:spLocks noGrp="1"/>
          </p:cNvSpPr>
          <p:nvPr/>
        </p:nvSpPr>
        <p:spPr>
          <a:xfrm>
            <a:off x="8591550" y="17716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Клиентский Pareto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EF503C-E16F-41C1-BBE2-304227073991}"/>
              </a:ext>
            </a:extLst>
          </p:cNvPr>
          <p:cNvSpPr>
            <a:spLocks noGrp="1"/>
          </p:cNvSpPr>
          <p:nvPr/>
        </p:nvSpPr>
        <p:spPr>
          <a:xfrm>
            <a:off x="8591550" y="20955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57"/>
          </a:bodyPr>
          <a:lstStyle/>
          <a:p>
            <a:pPr algn="l">
              <a:buNone/>
              <a:defRPr sz="1500" b="1">
                <a:solidFill>
                  <a:srgbClr val="C24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2413B"/>
                </a:solidFill>
                <a:latin typeface="Arial"/>
                <a:ea typeface="Arial"/>
                <a:cs typeface="Arial"/>
              </a:rPr>
              <a:t>Top-20% → около 53% выручки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218E84-2864-49B0-A3C5-7D9F67219845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2914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Для 80% выручки нужно ≈41% клиентов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E22EDEC-2550-4D73-9D22-FB9D6B0444BC}"/>
              </a:ext>
            </a:extLst>
          </p:cNvPr>
          <p:cNvSpPr>
            <a:spLocks noGrp="1"/>
          </p:cNvSpPr>
          <p:nvPr/>
        </p:nvSpPr>
        <p:spPr>
          <a:xfrm>
            <a:off x="8401050" y="33909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CDEEE5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7CC7F29-EF5C-4ACC-88D4-9A970984F22B}"/>
              </a:ext>
            </a:extLst>
          </p:cNvPr>
          <p:cNvSpPr>
            <a:spLocks noGrp="1"/>
          </p:cNvSpPr>
          <p:nvPr/>
        </p:nvSpPr>
        <p:spPr>
          <a:xfrm>
            <a:off x="8515350" y="34575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65068"/>
          </a:bodyPr>
          <a:lstStyle/>
          <a:p>
            <a:pPr algn="ctr">
              <a:buNone/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E294462-5A46-4CB3-87FA-46792E06C519}"/>
              </a:ext>
            </a:extLst>
          </p:cNvPr>
          <p:cNvSpPr>
            <a:spLocks noGrp="1"/>
          </p:cNvSpPr>
          <p:nvPr/>
        </p:nvSpPr>
        <p:spPr>
          <a:xfrm>
            <a:off x="8915400" y="34385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клиентов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F6AEE07-802E-4617-AD86-10009C45E18B}"/>
              </a:ext>
            </a:extLst>
          </p:cNvPr>
          <p:cNvSpPr>
            <a:spLocks noGrp="1"/>
          </p:cNvSpPr>
          <p:nvPr/>
        </p:nvSpPr>
        <p:spPr>
          <a:xfrm>
            <a:off x="10134600" y="343852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≈53% выр.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5D38688-DE17-4865-9DD6-690AF69D75F3}"/>
              </a:ext>
            </a:extLst>
          </p:cNvPr>
          <p:cNvSpPr>
            <a:spLocks noGrp="1"/>
          </p:cNvSpPr>
          <p:nvPr/>
        </p:nvSpPr>
        <p:spPr>
          <a:xfrm>
            <a:off x="8401050" y="405765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D9F1FC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F6BB50C-7F18-43FA-9147-3B1010131399}"/>
              </a:ext>
            </a:extLst>
          </p:cNvPr>
          <p:cNvSpPr>
            <a:spLocks noGrp="1"/>
          </p:cNvSpPr>
          <p:nvPr/>
        </p:nvSpPr>
        <p:spPr>
          <a:xfrm>
            <a:off x="8515350" y="412432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65068"/>
          </a:bodyPr>
          <a:lstStyle/>
          <a:p>
            <a:pPr algn="ctr">
              <a:buNone/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41%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931194E-7475-4BB7-93BD-230BE245D097}"/>
              </a:ext>
            </a:extLst>
          </p:cNvPr>
          <p:cNvSpPr>
            <a:spLocks noGrp="1"/>
          </p:cNvSpPr>
          <p:nvPr/>
        </p:nvSpPr>
        <p:spPr>
          <a:xfrm>
            <a:off x="8915400" y="41052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клиентов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AF27BD-7C2A-44FA-AEEB-EA6F5FCC1558}"/>
              </a:ext>
            </a:extLst>
          </p:cNvPr>
          <p:cNvSpPr>
            <a:spLocks noGrp="1"/>
          </p:cNvSpPr>
          <p:nvPr/>
        </p:nvSpPr>
        <p:spPr>
          <a:xfrm>
            <a:off x="10134600" y="410527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≈80% выр.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7CEAA14-20E9-4725-9C1F-AFAD0D8E59E9}"/>
              </a:ext>
            </a:extLst>
          </p:cNvPr>
          <p:cNvSpPr>
            <a:spLocks noGrp="1"/>
          </p:cNvSpPr>
          <p:nvPr/>
        </p:nvSpPr>
        <p:spPr>
          <a:xfrm>
            <a:off x="8401050" y="472440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FDE5D8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B067A58-18B7-42ED-97AA-4197CF472180}"/>
              </a:ext>
            </a:extLst>
          </p:cNvPr>
          <p:cNvSpPr>
            <a:spLocks noGrp="1"/>
          </p:cNvSpPr>
          <p:nvPr/>
        </p:nvSpPr>
        <p:spPr>
          <a:xfrm>
            <a:off x="8515350" y="4791075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53571"/>
          </a:bodyPr>
          <a:lstStyle/>
          <a:p>
            <a:pPr algn="ctr">
              <a:buNone/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69,5%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34FB827-E7E8-4A32-A057-49F2631A35CA}"/>
              </a:ext>
            </a:extLst>
          </p:cNvPr>
          <p:cNvSpPr>
            <a:spLocks noGrp="1"/>
          </p:cNvSpPr>
          <p:nvPr/>
        </p:nvSpPr>
        <p:spPr>
          <a:xfrm>
            <a:off x="8915400" y="47720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повторных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9B9FEE4-7396-4CDB-8A9D-462CF75963A5}"/>
              </a:ext>
            </a:extLst>
          </p:cNvPr>
          <p:cNvSpPr>
            <a:spLocks noGrp="1"/>
          </p:cNvSpPr>
          <p:nvPr/>
        </p:nvSpPr>
        <p:spPr>
          <a:xfrm>
            <a:off x="10134600" y="477202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покупателей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1F0920B-06E5-40AB-828A-F220620D5C3F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D9F1FC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BE5DD5C-1BC0-407D-A936-862FF84C2498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53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3B66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2DC44D4-41C0-4287-AFB0-D5FD3826FFBF}"/>
              </a:ext>
            </a:extLst>
          </p:cNvPr>
          <p:cNvSpPr>
            <a:spLocks noGrp="1"/>
          </p:cNvSpPr>
          <p:nvPr/>
        </p:nvSpPr>
        <p:spPr>
          <a:xfrm>
            <a:off x="1524000" y="5705475"/>
            <a:ext cx="9477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414"/>
          </a:bodyPr>
          <a:lstStyle/>
          <a:p>
            <a:pPr algn="l">
              <a:buNone/>
              <a:defRPr sz="1350" b="1">
                <a:solidFill>
                  <a:srgbClr val="153B6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B66"/>
                </a:solidFill>
                <a:latin typeface="Arial"/>
                <a:ea typeface="Arial"/>
                <a:cs typeface="Arial"/>
              </a:rPr>
              <a:t>Выручка распределена заметно шире классического 80/20: работать нужно не только с VIP, но и с массовым ядром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32115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9FCB8AA-981D-44F5-91AF-11C143A7883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КЛИЕНТОВ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212A58-D29E-4A25-A858-6AEB320603C5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84186E-D0AA-4405-8AB0-355B3FD0A540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RFM: главные резервы — Potential loyalists и Hibernating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3D2654-648D-4908-B135-8F7028CFFBB6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203" y="1562100"/>
            <a:ext cx="7351395" cy="43243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E378CC-7291-4B15-97D6-AE6E6F523F57}"/>
              </a:ext>
            </a:extLst>
          </p:cNvPr>
          <p:cNvSpPr>
            <a:spLocks noGrp="1"/>
          </p:cNvSpPr>
          <p:nvPr/>
        </p:nvSpPr>
        <p:spPr>
          <a:xfrm>
            <a:off x="8324850" y="16764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153B6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53B66"/>
                </a:solidFill>
                <a:latin typeface="Arial"/>
                <a:ea typeface="Arial"/>
                <a:cs typeface="Arial"/>
              </a:rPr>
              <a:t>23,65%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DFDA943-3F7F-4BFF-B8EB-78EDC01288C6}"/>
              </a:ext>
            </a:extLst>
          </p:cNvPr>
          <p:cNvSpPr>
            <a:spLocks noGrp="1"/>
          </p:cNvSpPr>
          <p:nvPr/>
        </p:nvSpPr>
        <p:spPr>
          <a:xfrm>
            <a:off x="8324850" y="23241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667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выручки создают Potential loyalists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A84244C-72ED-4CD1-ADD5-BF2F5F0DFE22}"/>
              </a:ext>
            </a:extLst>
          </p:cNvPr>
          <p:cNvSpPr>
            <a:spLocks noGrp="1"/>
          </p:cNvSpPr>
          <p:nvPr/>
        </p:nvSpPr>
        <p:spPr>
          <a:xfrm>
            <a:off x="8324850" y="3152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9418E4-F7FB-4BB7-93F4-1729B66DE5E8}"/>
              </a:ext>
            </a:extLst>
          </p:cNvPr>
          <p:cNvSpPr>
            <a:spLocks noGrp="1"/>
          </p:cNvSpPr>
          <p:nvPr/>
        </p:nvSpPr>
        <p:spPr>
          <a:xfrm>
            <a:off x="8534400" y="31051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532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Potential loyalists — растить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0D6697D-9F19-49EA-B18E-9E6861375C04}"/>
              </a:ext>
            </a:extLst>
          </p:cNvPr>
          <p:cNvSpPr>
            <a:spLocks noGrp="1"/>
          </p:cNvSpPr>
          <p:nvPr/>
        </p:nvSpPr>
        <p:spPr>
          <a:xfrm>
            <a:off x="8534400" y="3409950"/>
            <a:ext cx="2647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22,37% клиентов; 2,48 покупки; recency 37 дней.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416C2D6-FF52-4E53-9EBF-46348711411F}"/>
              </a:ext>
            </a:extLst>
          </p:cNvPr>
          <p:cNvSpPr>
            <a:spLocks noGrp="1"/>
          </p:cNvSpPr>
          <p:nvPr/>
        </p:nvSpPr>
        <p:spPr>
          <a:xfrm>
            <a:off x="8324850" y="4086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F5E4680-E637-4EE9-BF60-5B3C2EBFFBD1}"/>
              </a:ext>
            </a:extLst>
          </p:cNvPr>
          <p:cNvSpPr>
            <a:spLocks noGrp="1"/>
          </p:cNvSpPr>
          <p:nvPr/>
        </p:nvSpPr>
        <p:spPr>
          <a:xfrm>
            <a:off x="8534400" y="40386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482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Hibernating — реактивировать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F5B7395-EC29-4AF5-99CE-53F51A796F3A}"/>
              </a:ext>
            </a:extLst>
          </p:cNvPr>
          <p:cNvSpPr>
            <a:spLocks noGrp="1"/>
          </p:cNvSpPr>
          <p:nvPr/>
        </p:nvSpPr>
        <p:spPr>
          <a:xfrm>
            <a:off x="8534400" y="4343400"/>
            <a:ext cx="2647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32,13% клиентов и 19,08% выручки; recency 233 дня.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0A0FFB0-B825-4BFF-9498-C405B94D77CB}"/>
              </a:ext>
            </a:extLst>
          </p:cNvPr>
          <p:cNvSpPr>
            <a:spLocks noGrp="1"/>
          </p:cNvSpPr>
          <p:nvPr/>
        </p:nvSpPr>
        <p:spPr>
          <a:xfrm>
            <a:off x="8324850" y="5019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F4A635B-06AD-47A9-BA00-114CAF4A524C}"/>
              </a:ext>
            </a:extLst>
          </p:cNvPr>
          <p:cNvSpPr>
            <a:spLocks noGrp="1"/>
          </p:cNvSpPr>
          <p:nvPr/>
        </p:nvSpPr>
        <p:spPr>
          <a:xfrm>
            <a:off x="8534400" y="49720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202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Champions + Loyal — удерживать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3F25403-97AD-4C51-9B22-05013FF72EA6}"/>
              </a:ext>
            </a:extLst>
          </p:cNvPr>
          <p:cNvSpPr>
            <a:spLocks noGrp="1"/>
          </p:cNvSpPr>
          <p:nvPr/>
        </p:nvSpPr>
        <p:spPr>
          <a:xfrm>
            <a:off x="8534400" y="5276850"/>
            <a:ext cx="2647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14,89% клиентов формируют 29,05% выручки.</a:t>
            </a:r>
          </a:p>
        </p:txBody>
      </p:sp>
    </p:spTree>
    <p:extLst>
      <p:ext uri="{BB962C8B-B14F-4D97-AF65-F5344CB8AC3E}">
        <p14:creationId xmlns:p14="http://schemas.microsoft.com/office/powerpoint/2010/main" val="110973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309C3E9-A44C-4F46-86F1-5E05BE375C98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КЛИЕНТОВ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018C65-CCFD-4CE7-BF68-A50B967B3F6F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8AC3EC-224D-4C30-9D6E-D5A9F4F30F08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LTV растёт через частоту и удержание, не через средний чек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1DBF457-BF5D-478F-B0CF-0B79D78948AF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="514350" y="1676400"/>
          <a:ext cx="6953250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C4D44D-A793-4128-BBAD-FFE7F2A8C3DC}"/>
              </a:ext>
            </a:extLst>
          </p:cNvPr>
          <p:cNvSpPr>
            <a:spLocks noGrp="1"/>
          </p:cNvSpPr>
          <p:nvPr/>
        </p:nvSpPr>
        <p:spPr>
          <a:xfrm>
            <a:off x="8039100" y="1752600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816–827 тыс.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7DE09E-7462-46FB-87B1-6B185121EF8F}"/>
              </a:ext>
            </a:extLst>
          </p:cNvPr>
          <p:cNvSpPr>
            <a:spLocks noGrp="1"/>
          </p:cNvSpPr>
          <p:nvPr/>
        </p:nvSpPr>
        <p:spPr>
          <a:xfrm>
            <a:off x="8039100" y="23241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средний чек почти одинаков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3CF4F27-8133-41EE-973C-04BDC806D243}"/>
              </a:ext>
            </a:extLst>
          </p:cNvPr>
          <p:cNvSpPr>
            <a:spLocks noGrp="1"/>
          </p:cNvSpPr>
          <p:nvPr/>
        </p:nvSpPr>
        <p:spPr>
          <a:xfrm>
            <a:off x="8039100" y="2819400"/>
            <a:ext cx="314325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1837C6-17EF-4025-A1B3-83A600D27F2E}"/>
              </a:ext>
            </a:extLst>
          </p:cNvPr>
          <p:cNvSpPr>
            <a:spLocks noGrp="1"/>
          </p:cNvSpPr>
          <p:nvPr/>
        </p:nvSpPr>
        <p:spPr>
          <a:xfrm>
            <a:off x="8039100" y="310515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0,82 → 4,35 млн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E3168A-2790-4085-84F8-51D50734E390}"/>
              </a:ext>
            </a:extLst>
          </p:cNvPr>
          <p:cNvSpPr>
            <a:spLocks noGrp="1"/>
          </p:cNvSpPr>
          <p:nvPr/>
        </p:nvSpPr>
        <p:spPr>
          <a:xfrm>
            <a:off x="8039100" y="36385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выручка на клиента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BD24C4-5E5E-4959-B2AE-6783B1E31529}"/>
              </a:ext>
            </a:extLst>
          </p:cNvPr>
          <p:cNvSpPr>
            <a:spLocks noGrp="1"/>
          </p:cNvSpPr>
          <p:nvPr/>
        </p:nvSpPr>
        <p:spPr>
          <a:xfrm>
            <a:off x="8039100" y="417195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1,00 → 5,26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6A75D2C-E218-4838-99A5-F656EBCFCF69}"/>
              </a:ext>
            </a:extLst>
          </p:cNvPr>
          <p:cNvSpPr>
            <a:spLocks noGrp="1"/>
          </p:cNvSpPr>
          <p:nvPr/>
        </p:nvSpPr>
        <p:spPr>
          <a:xfrm>
            <a:off x="8039100" y="47053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покупок на клиента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F0ED7B4-1041-4309-97A8-F5B22550CACB}"/>
              </a:ext>
            </a:extLst>
          </p:cNvPr>
          <p:cNvSpPr>
            <a:spLocks noGrp="1"/>
          </p:cNvSpPr>
          <p:nvPr/>
        </p:nvSpPr>
        <p:spPr>
          <a:xfrm>
            <a:off x="8039100" y="5372100"/>
            <a:ext cx="3143250" cy="666750"/>
          </a:xfrm>
          <a:prstGeom prst="roundRect">
            <a:avLst>
              <a:gd name="adj" fmla="val 11429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223B65-5C8E-4642-AD09-D0DC3C203854}"/>
              </a:ext>
            </a:extLst>
          </p:cNvPr>
          <p:cNvSpPr>
            <a:spLocks noGrp="1"/>
          </p:cNvSpPr>
          <p:nvPr/>
        </p:nvSpPr>
        <p:spPr>
          <a:xfrm>
            <a:off x="8229600" y="55435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7934"/>
          </a:bodyPr>
          <a:lstStyle/>
          <a:p>
            <a:pPr algn="ctr">
              <a:buNone/>
              <a:defRPr sz="1200" b="1">
                <a:solidFill>
                  <a:srgbClr val="C241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2413B"/>
                </a:solidFill>
                <a:latin typeface="Arial"/>
                <a:ea typeface="Arial"/>
                <a:cs typeface="Arial"/>
              </a:rPr>
              <a:t>Вывод: увеличивать частоту, активные месяцы и удержание; чек — вторичный рычаг</a:t>
            </a:r>
          </a:p>
        </p:txBody>
      </p:sp>
    </p:spTree>
    <p:extLst>
      <p:ext uri="{BB962C8B-B14F-4D97-AF65-F5344CB8AC3E}">
        <p14:creationId xmlns:p14="http://schemas.microsoft.com/office/powerpoint/2010/main" val="33192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8FC342F-C6C2-4FCA-96FC-BE76C46E557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ИССЛЕДОВАНИЕ КЛИЕНТОВ • 2023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6EDD2EC-14AB-4423-9C2E-80DE8265E6AC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AFB0A2-A181-47ED-A019-17899766F856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План работы с клиентской базой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82DED3A-6A4D-4914-870F-F031575519FA}"/>
              </a:ext>
            </a:extLst>
          </p:cNvPr>
          <p:cNvSpPr>
            <a:spLocks noGrp="1"/>
          </p:cNvSpPr>
          <p:nvPr/>
        </p:nvSpPr>
        <p:spPr>
          <a:xfrm>
            <a:off x="457200" y="1323975"/>
            <a:ext cx="11277600" cy="190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BC01796-70F7-4C43-8FDD-FFDAE1C86858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3505200" cy="76200"/>
          </a:xfrm>
          <a:prstGeom prst="rect">
            <a:avLst/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F6D9FA6-DB5A-4BEE-AF1B-6C0A09F09E32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РАСТИТЬ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E304428-C435-4713-9684-BE3FEDB545CF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3505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Potential loyalists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FFFDA2-93F0-4873-81DE-0DFDDAE5E991}"/>
              </a:ext>
            </a:extLst>
          </p:cNvPr>
          <p:cNvSpPr>
            <a:spLocks noGrp="1"/>
          </p:cNvSpPr>
          <p:nvPr/>
        </p:nvSpPr>
        <p:spPr>
          <a:xfrm>
            <a:off x="457200" y="2933700"/>
            <a:ext cx="350520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70B433A-013D-46F6-AB82-EE4C6A7833A9}"/>
              </a:ext>
            </a:extLst>
          </p:cNvPr>
          <p:cNvSpPr>
            <a:spLocks noGrp="1"/>
          </p:cNvSpPr>
          <p:nvPr/>
        </p:nvSpPr>
        <p:spPr>
          <a:xfrm>
            <a:off x="457200" y="3305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138CD1-ED5F-4550-AE2B-155C1D3CF0E6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Персональные рекомендации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5A6074A-C0D2-4F30-99C8-6CA1AECAC7F0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FDF9350-3981-4D30-AB0B-898F9A717821}"/>
              </a:ext>
            </a:extLst>
          </p:cNvPr>
          <p:cNvSpPr>
            <a:spLocks noGrp="1"/>
          </p:cNvSpPr>
          <p:nvPr/>
        </p:nvSpPr>
        <p:spPr>
          <a:xfrm>
            <a:off x="457200" y="4086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79E57F7-BF63-48CF-B573-0FCB2CBD2A69}"/>
              </a:ext>
            </a:extLst>
          </p:cNvPr>
          <p:cNvSpPr>
            <a:spLocks noGrp="1"/>
          </p:cNvSpPr>
          <p:nvPr/>
        </p:nvSpPr>
        <p:spPr>
          <a:xfrm>
            <a:off x="666750" y="403860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Триггер 2-й и 3-й покупки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690B15-AC4D-4F26-8558-180507E652F2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A082DEF-7B18-40AC-A061-550BB51775B7}"/>
              </a:ext>
            </a:extLst>
          </p:cNvPr>
          <p:cNvSpPr>
            <a:spLocks noGrp="1"/>
          </p:cNvSpPr>
          <p:nvPr/>
        </p:nvSpPr>
        <p:spPr>
          <a:xfrm>
            <a:off x="457200" y="4867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6B714BB-339D-4F3E-9C1A-0FD9807D8B0C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Этапы программы лояльности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56175D-9178-4D35-8961-069E17D6FF04}"/>
              </a:ext>
            </a:extLst>
          </p:cNvPr>
          <p:cNvSpPr>
            <a:spLocks noGrp="1"/>
          </p:cNvSpPr>
          <p:nvPr/>
        </p:nvSpPr>
        <p:spPr>
          <a:xfrm>
            <a:off x="666750" y="51244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FE7BE4-3366-4F02-89F7-654B5C35B91E}"/>
              </a:ext>
            </a:extLst>
          </p:cNvPr>
          <p:cNvSpPr>
            <a:spLocks noGrp="1"/>
          </p:cNvSpPr>
          <p:nvPr/>
        </p:nvSpPr>
        <p:spPr>
          <a:xfrm>
            <a:off x="4343400" y="1676400"/>
            <a:ext cx="3505200" cy="762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AFC3C48-91CC-4336-B0FA-B056FD72EAE4}"/>
              </a:ext>
            </a:extLst>
          </p:cNvPr>
          <p:cNvSpPr>
            <a:spLocks noGrp="1"/>
          </p:cNvSpPr>
          <p:nvPr/>
        </p:nvSpPr>
        <p:spPr>
          <a:xfrm>
            <a:off x="4343400" y="1981200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УДЕРЖИВАТЬ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DF04EFB-E549-4969-8D61-1B4E9F9D401F}"/>
              </a:ext>
            </a:extLst>
          </p:cNvPr>
          <p:cNvSpPr>
            <a:spLocks noGrp="1"/>
          </p:cNvSpPr>
          <p:nvPr/>
        </p:nvSpPr>
        <p:spPr>
          <a:xfrm>
            <a:off x="4343400" y="2343150"/>
            <a:ext cx="3505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Champions • Loyal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E195E2D-39AA-49B0-86BC-7F88CEAC3B54}"/>
              </a:ext>
            </a:extLst>
          </p:cNvPr>
          <p:cNvSpPr>
            <a:spLocks noGrp="1"/>
          </p:cNvSpPr>
          <p:nvPr/>
        </p:nvSpPr>
        <p:spPr>
          <a:xfrm>
            <a:off x="4343400" y="2933700"/>
            <a:ext cx="350520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8F1E88F-662A-47A0-AEE9-018CF79EE411}"/>
              </a:ext>
            </a:extLst>
          </p:cNvPr>
          <p:cNvSpPr>
            <a:spLocks noGrp="1"/>
          </p:cNvSpPr>
          <p:nvPr/>
        </p:nvSpPr>
        <p:spPr>
          <a:xfrm>
            <a:off x="4343400" y="3305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0925060-8654-49AA-9AA6-0D276DD32AC6}"/>
              </a:ext>
            </a:extLst>
          </p:cNvPr>
          <p:cNvSpPr>
            <a:spLocks noGrp="1"/>
          </p:cNvSpPr>
          <p:nvPr/>
        </p:nvSpPr>
        <p:spPr>
          <a:xfrm>
            <a:off x="4552950" y="32575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VIP-сервис и ранний доступ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7D724FC-8D33-4DE4-9FE7-E7039B356E14}"/>
              </a:ext>
            </a:extLst>
          </p:cNvPr>
          <p:cNvSpPr>
            <a:spLocks noGrp="1"/>
          </p:cNvSpPr>
          <p:nvPr/>
        </p:nvSpPr>
        <p:spPr>
          <a:xfrm>
            <a:off x="4552950" y="35623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692F12D7-6F53-49E2-A024-8A5D70C1AC25}"/>
              </a:ext>
            </a:extLst>
          </p:cNvPr>
          <p:cNvSpPr>
            <a:spLocks noGrp="1"/>
          </p:cNvSpPr>
          <p:nvPr/>
        </p:nvSpPr>
        <p:spPr>
          <a:xfrm>
            <a:off x="4343400" y="4086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0D9414D-D560-42E9-ACD6-5DF185493B76}"/>
              </a:ext>
            </a:extLst>
          </p:cNvPr>
          <p:cNvSpPr>
            <a:spLocks noGrp="1"/>
          </p:cNvSpPr>
          <p:nvPr/>
        </p:nvSpPr>
        <p:spPr>
          <a:xfrm>
            <a:off x="4552950" y="403860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Cross-sell без массовых скидок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0BCD436-03F4-4DB2-9189-EC724A6B770E}"/>
              </a:ext>
            </a:extLst>
          </p:cNvPr>
          <p:cNvSpPr>
            <a:spLocks noGrp="1"/>
          </p:cNvSpPr>
          <p:nvPr/>
        </p:nvSpPr>
        <p:spPr>
          <a:xfrm>
            <a:off x="4552950" y="434340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E20B85C-A807-4617-8B94-E820C112DFA4}"/>
              </a:ext>
            </a:extLst>
          </p:cNvPr>
          <p:cNvSpPr>
            <a:spLocks noGrp="1"/>
          </p:cNvSpPr>
          <p:nvPr/>
        </p:nvSpPr>
        <p:spPr>
          <a:xfrm>
            <a:off x="4343400" y="4867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B18E871-8D55-4B3E-9D31-B8E6C71A914A}"/>
              </a:ext>
            </a:extLst>
          </p:cNvPr>
          <p:cNvSpPr>
            <a:spLocks noGrp="1"/>
          </p:cNvSpPr>
          <p:nvPr/>
        </p:nvSpPr>
        <p:spPr>
          <a:xfrm>
            <a:off x="4552950" y="48196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Контроль recency и активности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57EC849-0929-473F-A398-89DB5AD69E83}"/>
              </a:ext>
            </a:extLst>
          </p:cNvPr>
          <p:cNvSpPr>
            <a:spLocks noGrp="1"/>
          </p:cNvSpPr>
          <p:nvPr/>
        </p:nvSpPr>
        <p:spPr>
          <a:xfrm>
            <a:off x="4552950" y="51244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441A8A8-90A9-4F76-B289-2309344FDC24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3505200" cy="76200"/>
          </a:xfrm>
          <a:prstGeom prst="rect">
            <a:avLst/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69CF5C7-70DE-4A9F-B854-F9A73FCD1F8D}"/>
              </a:ext>
            </a:extLst>
          </p:cNvPr>
          <p:cNvSpPr>
            <a:spLocks noGrp="1"/>
          </p:cNvSpPr>
          <p:nvPr/>
        </p:nvSpPr>
        <p:spPr>
          <a:xfrm>
            <a:off x="8229600" y="1981200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C241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2413B"/>
                </a:solidFill>
                <a:latin typeface="Arial"/>
                <a:ea typeface="Arial"/>
                <a:cs typeface="Arial"/>
              </a:rPr>
              <a:t>ВОЗВРАЩАТЬ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A445C02-638C-4245-9D27-F78BC403D5C6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3505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At risk • Hibernating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06F9929-CF59-4C9A-AB53-362E70E0BE1E}"/>
              </a:ext>
            </a:extLst>
          </p:cNvPr>
          <p:cNvSpPr>
            <a:spLocks noGrp="1"/>
          </p:cNvSpPr>
          <p:nvPr/>
        </p:nvSpPr>
        <p:spPr>
          <a:xfrm>
            <a:off x="8229600" y="2933700"/>
            <a:ext cx="3505200" cy="9525"/>
          </a:xfrm>
          <a:prstGeom prst="rect">
            <a:avLst/>
          </a:prstGeom>
          <a:solidFill>
            <a:srgbClr val="C7CED6"/>
          </a:solidFill>
          <a:ln w="0">
            <a:noFill/>
            <a:prstDash val="solid"/>
          </a:ln>
        </p:spPr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869C0000-8655-433F-91F2-CC02BC7431C7}"/>
              </a:ext>
            </a:extLst>
          </p:cNvPr>
          <p:cNvSpPr>
            <a:spLocks noGrp="1"/>
          </p:cNvSpPr>
          <p:nvPr/>
        </p:nvSpPr>
        <p:spPr>
          <a:xfrm>
            <a:off x="8229600" y="3305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4AB30E4-54F6-4F32-84D5-852662039B9A}"/>
              </a:ext>
            </a:extLst>
          </p:cNvPr>
          <p:cNvSpPr>
            <a:spLocks noGrp="1"/>
          </p:cNvSpPr>
          <p:nvPr/>
        </p:nvSpPr>
        <p:spPr>
          <a:xfrm>
            <a:off x="8439150" y="32575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Win-back по давности покупки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F929D48-2000-4A87-81C0-6994419448BB}"/>
              </a:ext>
            </a:extLst>
          </p:cNvPr>
          <p:cNvSpPr>
            <a:spLocks noGrp="1"/>
          </p:cNvSpPr>
          <p:nvPr/>
        </p:nvSpPr>
        <p:spPr>
          <a:xfrm>
            <a:off x="8439150" y="35623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D131058A-4D7F-4EA1-A39C-AC99367A9BCA}"/>
              </a:ext>
            </a:extLst>
          </p:cNvPr>
          <p:cNvSpPr>
            <a:spLocks noGrp="1"/>
          </p:cNvSpPr>
          <p:nvPr/>
        </p:nvSpPr>
        <p:spPr>
          <a:xfrm>
            <a:off x="8229600" y="4086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BA491EA-3C37-43F5-AAC9-302BCC791967}"/>
              </a:ext>
            </a:extLst>
          </p:cNvPr>
          <p:cNvSpPr>
            <a:spLocks noGrp="1"/>
          </p:cNvSpPr>
          <p:nvPr/>
        </p:nvSpPr>
        <p:spPr>
          <a:xfrm>
            <a:off x="8439150" y="403860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Ограниченные тесты офферов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D7DB3B4B-64C8-465E-8F99-03416877653D}"/>
              </a:ext>
            </a:extLst>
          </p:cNvPr>
          <p:cNvSpPr>
            <a:spLocks noGrp="1"/>
          </p:cNvSpPr>
          <p:nvPr/>
        </p:nvSpPr>
        <p:spPr>
          <a:xfrm>
            <a:off x="8439150" y="434340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2B8F11A-3250-4D1B-AC2B-1B62859F62B8}"/>
              </a:ext>
            </a:extLst>
          </p:cNvPr>
          <p:cNvSpPr>
            <a:spLocks noGrp="1"/>
          </p:cNvSpPr>
          <p:nvPr/>
        </p:nvSpPr>
        <p:spPr>
          <a:xfrm>
            <a:off x="8229600" y="4867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2413B"/>
          </a:solidFill>
          <a:ln w="0">
            <a:noFill/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1CA8A21-7DF6-40AA-9202-35D395CD53E7}"/>
              </a:ext>
            </a:extLst>
          </p:cNvPr>
          <p:cNvSpPr>
            <a:spLocks noGrp="1"/>
          </p:cNvSpPr>
          <p:nvPr/>
        </p:nvSpPr>
        <p:spPr>
          <a:xfrm>
            <a:off x="8439150" y="48196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157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Отключать нерентабельные каналы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DA80703-6323-4FBD-B6A1-8BCE66473988}"/>
              </a:ext>
            </a:extLst>
          </p:cNvPr>
          <p:cNvSpPr>
            <a:spLocks noGrp="1"/>
          </p:cNvSpPr>
          <p:nvPr/>
        </p:nvSpPr>
        <p:spPr>
          <a:xfrm>
            <a:off x="8439150" y="51244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4FAED201-F9EC-4B41-BC9E-7B85EC874F8E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1277600" cy="400050"/>
          </a:xfrm>
          <a:prstGeom prst="roundRect">
            <a:avLst>
              <a:gd name="adj" fmla="val 14286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DF8B951-33CA-48C6-B06C-07BE35E4BBA8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85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39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Приоритет: сначала частота и удержание, затем чек. Массовая скидка не является базовым решением.</a:t>
            </a:r>
          </a:p>
        </p:txBody>
      </p:sp>
    </p:spTree>
    <p:extLst>
      <p:ext uri="{BB962C8B-B14F-4D97-AF65-F5344CB8AC3E}">
        <p14:creationId xmlns:p14="http://schemas.microsoft.com/office/powerpoint/2010/main" val="324813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A918152-BDDE-4472-BE32-77404E9DC272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РЕЗУЛЬТАТ ИССЛЕДОВАНИЯ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EEDC53-4300-488B-BCA9-E24268EDF66D}"/>
              </a:ext>
            </a:extLst>
          </p:cNvPr>
          <p:cNvSpPr>
            <a:spLocks noGrp="1"/>
          </p:cNvSpPr>
          <p:nvPr/>
        </p:nvSpPr>
        <p:spPr>
          <a:xfrm>
            <a:off x="514350" y="990600"/>
            <a:ext cx="99060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LTV растёт, когда клиент</a:t>
            </a:r>
          </a:p>
          <a:p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покупает чаще и остаётся дольше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F872AF3-5DC6-4A04-9CB4-A065D437AD5F}"/>
              </a:ext>
            </a:extLst>
          </p:cNvPr>
          <p:cNvSpPr>
            <a:spLocks noGrp="1"/>
          </p:cNvSpPr>
          <p:nvPr/>
        </p:nvSpPr>
        <p:spPr>
          <a:xfrm>
            <a:off x="514350" y="28194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0336B1-A017-4E02-8B53-046C640E683E}"/>
              </a:ext>
            </a:extLst>
          </p:cNvPr>
          <p:cNvSpPr>
            <a:spLocks noGrp="1"/>
          </p:cNvSpPr>
          <p:nvPr/>
        </p:nvSpPr>
        <p:spPr>
          <a:xfrm>
            <a:off x="1104900" y="28194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Конвертировать 1→2→3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DFDB5A-F544-4645-B898-6C786572AA52}"/>
              </a:ext>
            </a:extLst>
          </p:cNvPr>
          <p:cNvSpPr>
            <a:spLocks noGrp="1"/>
          </p:cNvSpPr>
          <p:nvPr/>
        </p:nvSpPr>
        <p:spPr>
          <a:xfrm>
            <a:off x="4229100" y="283845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8C6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6D6"/>
                </a:solidFill>
                <a:latin typeface="Arial"/>
                <a:ea typeface="Arial"/>
                <a:cs typeface="Arial"/>
              </a:rPr>
              <a:t>онбординг и следующий лучший оффер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1F0B09-AF63-4CD2-9C5E-DFCA7EF50B5C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10134600" cy="9525"/>
          </a:xfrm>
          <a:prstGeom prst="rect">
            <a:avLst/>
          </a:prstGeom>
          <a:solidFill>
            <a:srgbClr val="304154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D313B3-67B9-4A89-98DA-BC79F62F43F2}"/>
              </a:ext>
            </a:extLst>
          </p:cNvPr>
          <p:cNvSpPr>
            <a:spLocks noGrp="1"/>
          </p:cNvSpPr>
          <p:nvPr/>
        </p:nvSpPr>
        <p:spPr>
          <a:xfrm>
            <a:off x="514350" y="35623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7A652B-97DC-4B52-92FB-80BD0430C868}"/>
              </a:ext>
            </a:extLst>
          </p:cNvPr>
          <p:cNvSpPr>
            <a:spLocks noGrp="1"/>
          </p:cNvSpPr>
          <p:nvPr/>
        </p:nvSpPr>
        <p:spPr>
          <a:xfrm>
            <a:off x="1104900" y="35623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Удерживать ядро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D4AF18-16D0-489E-8EA7-AAD2429DCA85}"/>
              </a:ext>
            </a:extLst>
          </p:cNvPr>
          <p:cNvSpPr>
            <a:spLocks noGrp="1"/>
          </p:cNvSpPr>
          <p:nvPr/>
        </p:nvSpPr>
        <p:spPr>
          <a:xfrm>
            <a:off x="4229100" y="358140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8C6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6D6"/>
                </a:solidFill>
                <a:latin typeface="Arial"/>
                <a:ea typeface="Arial"/>
                <a:cs typeface="Arial"/>
              </a:rPr>
              <a:t>Champions и Loyal — без массовых скидок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B6A65EB-9D7D-4305-9FFC-F54830CFF754}"/>
              </a:ext>
            </a:extLst>
          </p:cNvPr>
          <p:cNvSpPr>
            <a:spLocks noGrp="1"/>
          </p:cNvSpPr>
          <p:nvPr/>
        </p:nvSpPr>
        <p:spPr>
          <a:xfrm>
            <a:off x="1104900" y="4076700"/>
            <a:ext cx="10134600" cy="9525"/>
          </a:xfrm>
          <a:prstGeom prst="rect">
            <a:avLst/>
          </a:prstGeom>
          <a:solidFill>
            <a:srgbClr val="304154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3B0D48-30F8-4913-A7A0-3BD398C5C634}"/>
              </a:ext>
            </a:extLst>
          </p:cNvPr>
          <p:cNvSpPr>
            <a:spLocks noGrp="1"/>
          </p:cNvSpPr>
          <p:nvPr/>
        </p:nvSpPr>
        <p:spPr>
          <a:xfrm>
            <a:off x="514350" y="43053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F05DCC6-4112-452E-9513-AAEE91772EB1}"/>
              </a:ext>
            </a:extLst>
          </p:cNvPr>
          <p:cNvSpPr>
            <a:spLocks noGrp="1"/>
          </p:cNvSpPr>
          <p:nvPr/>
        </p:nvSpPr>
        <p:spPr>
          <a:xfrm>
            <a:off x="1104900" y="43053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Возвращать адресно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A2943C-4632-4452-B786-A784A6C50017}"/>
              </a:ext>
            </a:extLst>
          </p:cNvPr>
          <p:cNvSpPr>
            <a:spLocks noGrp="1"/>
          </p:cNvSpPr>
          <p:nvPr/>
        </p:nvSpPr>
        <p:spPr>
          <a:xfrm>
            <a:off x="4229100" y="432435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8C6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6D6"/>
                </a:solidFill>
                <a:latin typeface="Arial"/>
                <a:ea typeface="Arial"/>
                <a:cs typeface="Arial"/>
              </a:rPr>
              <a:t>At risk и Hibernating — с контролем окупаемости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F29CF2-42DD-412C-A578-5EDCCF6869B3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10134600" cy="9525"/>
          </a:xfrm>
          <a:prstGeom prst="rect">
            <a:avLst/>
          </a:prstGeom>
          <a:solidFill>
            <a:srgbClr val="304154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2D8E4C9-61DB-4956-B89D-DB4BA520162D}"/>
              </a:ext>
            </a:extLst>
          </p:cNvPr>
          <p:cNvSpPr>
            <a:spLocks noGrp="1"/>
          </p:cNvSpPr>
          <p:nvPr/>
        </p:nvSpPr>
        <p:spPr>
          <a:xfrm>
            <a:off x="514350" y="50482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9C92A70-AEB6-403A-B59D-C2FE1D157767}"/>
              </a:ext>
            </a:extLst>
          </p:cNvPr>
          <p:cNvSpPr>
            <a:spLocks noGrp="1"/>
          </p:cNvSpPr>
          <p:nvPr/>
        </p:nvSpPr>
        <p:spPr>
          <a:xfrm>
            <a:off x="1104900" y="50482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Измерять LTV корректно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A67929F-6C97-49AB-9FEC-CD4F085D304B}"/>
              </a:ext>
            </a:extLst>
          </p:cNvPr>
          <p:cNvSpPr>
            <a:spLocks noGrp="1"/>
          </p:cNvSpPr>
          <p:nvPr/>
        </p:nvSpPr>
        <p:spPr>
          <a:xfrm>
            <a:off x="4229100" y="5067300"/>
            <a:ext cx="701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8C6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6D6"/>
                </a:solidFill>
                <a:latin typeface="Arial"/>
                <a:ea typeface="Arial"/>
                <a:cs typeface="Arial"/>
              </a:rPr>
              <a:t>маржа, CAC, стоимость удержания и горизонт &gt; 1 года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914F30D-D3A8-49A9-AFBF-111C9CC0A519}"/>
              </a:ext>
            </a:extLst>
          </p:cNvPr>
          <p:cNvSpPr>
            <a:spLocks noGrp="1"/>
          </p:cNvSpPr>
          <p:nvPr/>
        </p:nvSpPr>
        <p:spPr>
          <a:xfrm>
            <a:off x="1104900" y="5562600"/>
            <a:ext cx="10134600" cy="9525"/>
          </a:xfrm>
          <a:prstGeom prst="rect">
            <a:avLst/>
          </a:prstGeom>
          <a:solidFill>
            <a:srgbClr val="304154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CE3735D-4997-4A92-881D-FF29781B58C4}"/>
              </a:ext>
            </a:extLst>
          </p:cNvPr>
          <p:cNvSpPr>
            <a:spLocks noGrp="1"/>
          </p:cNvSpPr>
          <p:nvPr/>
        </p:nvSpPr>
        <p:spPr>
          <a:xfrm>
            <a:off x="514350" y="6019800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77C3504-4F85-41C2-96F1-C11D5254E84B}"/>
              </a:ext>
            </a:extLst>
          </p:cNvPr>
          <p:cNvSpPr>
            <a:spLocks noGrp="1"/>
          </p:cNvSpPr>
          <p:nvPr/>
        </p:nvSpPr>
        <p:spPr>
          <a:xfrm>
            <a:off x="2000250" y="5962650"/>
            <a:ext cx="923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на 6–8 недель: repeat rate, частота, активные месяцы, выручка и маржа на клиента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6ECB99C-4C02-4ACE-96A4-AB81878FE3F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1">
                <a:solidFill>
                  <a:srgbClr val="7F8EA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F8E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07561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Microsoft Office PowerPoint</Application>
  <DocSecurity>0</DocSecurity>
  <PresentationFormat>Широкоэкранный</PresentationFormat>
  <Paragraphs>188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Нурхан Абдикулов</dc:creator>
  <cp:lastModifiedBy>Нурхан Абдикулов</cp:lastModifiedBy>
  <cp:revision>1</cp:revision>
  <dcterms:created xsi:type="dcterms:W3CDTF">2026-08-22T10:12:49Z</dcterms:created>
  <dcterms:modified xsi:type="dcterms:W3CDTF">2026-08-22T10:26:12Z</dcterms:modified>
</cp:coreProperties>
</file>